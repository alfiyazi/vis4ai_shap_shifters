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0"/>
    <p:sldId id="265" r:id="rId9"/>
    <p:sldId id="266" r:id="rId8"/>
    <p:sldId id="267" r:id="rId7"/>
    <p:sldId id="268" r:id="rId6"/>
    <p:sldId id="269" r:id="rId5"/>
    <p:sldId id="270" r:id="rId25"/>
  </p:sldIdLst>
  <p:sldSz cy="6858000" cx="12192000"/>
  <p:notesSz cx="6858000" cy="9144000"/>
  <p:embeddedFontLst>
    <p:embeddedFont>
      <p:font typeface="Arial Black"/>
      <p:regular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/EifHpe8WVly8TZ2pHtXF0MO8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4.xml"/><Relationship Id="rId6" Type="http://schemas.openxmlformats.org/officeDocument/2006/relationships/slide" Target="slides/slide13.xml"/><Relationship Id="rId7" Type="http://schemas.openxmlformats.org/officeDocument/2006/relationships/slide" Target="slides/slide12.xml"/><Relationship Id="rId8" Type="http://schemas.openxmlformats.org/officeDocument/2006/relationships/slide" Target="slides/slide11.xml"/><Relationship Id="rId9" Type="http://schemas.openxmlformats.org/officeDocument/2006/relationships/slide" Target="slides/slide10.xml"/><Relationship Id="rId10" Type="http://schemas.openxmlformats.org/officeDocument/2006/relationships/slide" Target="slides/slide9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font" Target="fonts/ArialBlack-regular.fntdata"/><Relationship Id="rId20" Type="http://schemas.openxmlformats.org/officeDocument/2006/relationships/font" Target="fonts/RobotoMono-regular.fntdata"/><Relationship Id="rId21" Type="http://schemas.openxmlformats.org/officeDocument/2006/relationships/font" Target="fonts/RobotoMono-bold.fntdata"/><Relationship Id="rId22" Type="http://schemas.openxmlformats.org/officeDocument/2006/relationships/font" Target="fonts/RobotoMono-italic.fntdata"/><Relationship Id="rId23" Type="http://schemas.openxmlformats.org/officeDocument/2006/relationships/font" Target="fonts/RobotoMono-boldItalic.fntdata"/><Relationship Id="rId24" Type="http://customschemas.google.com/relationships/presentationmetadata" Target="metadata"/><Relationship Id="rId25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propose to visually explain a patient-similarity model, the kind used to match patients to clinical trials, using diabetes patients from MIMIC-IV.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roadmap of the proposal.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 Droice Labs, cohort views like this clustered patients by similarity, and KNN was used to find comparable patients for clinical trials. The open question we want to explore: can we trust which patients a model calls similar? We reuse only the idea, not company code or data.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task is well-defined: a neighbor set is good when its patients share the query patient's later complication pathway. That gives us ground truth to find failures.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MIMIC-IV covers roughly 2008 to 2019. We filter to adults with a diabetes code and at least two admissions. Access requires PhysioNet credentialing for every member; meanwhile we prototype on the free 100-patient OMOP demo.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A is our transparent baseline: every distance traces back to features. Model B uses CLMBR-T-base embeddings, which gives Phase II real internals to open.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CLMBR-T-base works on structured codes and gives patient embeddings directly usable for KNN. It needs an OMOP conversion and a non-commercial Stanford agreement, fine for a course. Bio_ClinicalBERT is our fallback.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use the three investigative tools from the practical-examples session, plus paths over admissions. Perturbations and counterfactuals test our hypotheses directly.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Phase II view links back to a Phase I finding, so the final story reads: what we saw, then why it happens.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Beyond the course, this analysis shows how to audit patient-matching tools before they are used for real trial recruitment.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MIMIC data use agreement forbids sending data to online AI services, and our repo is public. We will report how this constraint shaped our AI use as a best-practice finding.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Each risk has a concrete fallback so the timeline holds.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 selection 28.10, midpoint 11.11, final 09.12, then the mandatory presentation.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links are in the shared proposal document.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All purpose">
  <p:cSld name="Title without logo All purpos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6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6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6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" name="Google Shape;1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6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">
  <p:cSld name="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" type="body"/>
          </p:nvPr>
        </p:nvSpPr>
        <p:spPr>
          <a:xfrm>
            <a:off x="471600" y="1621584"/>
            <a:ext cx="11138400" cy="45167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735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2" type="body"/>
          </p:nvPr>
        </p:nvSpPr>
        <p:spPr>
          <a:xfrm>
            <a:off x="471600" y="5858820"/>
            <a:ext cx="11138400" cy="278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indent="-228600" lvl="2" marL="1371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indent="-228600" lvl="3" marL="1828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indent="-228600" lvl="4" marL="22860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and contrast">
  <p:cSld name="Comparison and contras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478800" y="1641600"/>
            <a:ext cx="5400000" cy="4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87350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2" type="body"/>
          </p:nvPr>
        </p:nvSpPr>
        <p:spPr>
          <a:xfrm>
            <a:off x="6213600" y="1638000"/>
            <a:ext cx="5400000" cy="4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71475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All purpose" showMasterSp="0">
  <p:cSld name="Title/End with logo All purpose">
    <p:bg>
      <p:bgPr>
        <a:solidFill>
          <a:schemeClr val="accen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19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9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19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40" name="Google Shape;4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0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image and text">
  <p:cSld name="Small image and 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4386048" y="1641600"/>
            <a:ext cx="7225200" cy="4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71475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0"/>
          <p:cNvSpPr/>
          <p:nvPr>
            <p:ph idx="2" type="pic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" showMasterSp="0">
  <p:cSld name="JKU Logo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" showMasterSp="0">
  <p:cSld name="Title/End with logo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2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p22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02000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2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2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58" name="Google Shape;58;p22"/>
          <p:cNvPicPr preferRelativeResize="0"/>
          <p:nvPr/>
        </p:nvPicPr>
        <p:blipFill rotWithShape="1">
          <a:blip r:embed="rId3">
            <a:alphaModFix/>
          </a:blip>
          <a:srcRect b="38849" l="27455" r="42710" t="15293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">
  <p:cSld name="Title without logo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/>
          <p:nvPr>
            <p:ph idx="1" type="subTitle"/>
          </p:nvPr>
        </p:nvSpPr>
        <p:spPr>
          <a:xfrm>
            <a:off x="485999" y="5410800"/>
            <a:ext cx="11113227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23"/>
          <p:cNvSpPr txBox="1"/>
          <p:nvPr>
            <p:ph type="title"/>
          </p:nvPr>
        </p:nvSpPr>
        <p:spPr>
          <a:xfrm>
            <a:off x="475200" y="1306800"/>
            <a:ext cx="1112625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23"/>
          <p:cNvPicPr preferRelativeResize="0"/>
          <p:nvPr/>
        </p:nvPicPr>
        <p:blipFill rotWithShape="1">
          <a:blip r:embed="rId2">
            <a:alphaModFix/>
          </a:blip>
          <a:srcRect b="38849" l="27455" r="42710" t="15293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3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operation overview">
  <p:cSld name="Cooperation overview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24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/>
          <p:nvPr>
            <p:ph idx="2" type="pic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4"/>
          <p:cNvSpPr/>
          <p:nvPr>
            <p:ph idx="3" type="pic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24"/>
          <p:cNvSpPr/>
          <p:nvPr>
            <p:ph idx="4" type="pic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4"/>
          <p:cNvSpPr/>
          <p:nvPr>
            <p:ph idx="5" type="pic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4"/>
          <p:cNvSpPr/>
          <p:nvPr>
            <p:ph idx="6" type="pic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4"/>
          <p:cNvSpPr/>
          <p:nvPr>
            <p:ph idx="7" type="pic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24"/>
          <p:cNvSpPr/>
          <p:nvPr>
            <p:ph idx="8" type="pic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4"/>
          <p:cNvSpPr/>
          <p:nvPr>
            <p:ph idx="9" type="pic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4"/>
          <p:cNvSpPr/>
          <p:nvPr>
            <p:ph idx="13" type="pic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verview">
  <p:cSld name="Overview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idx="1" type="body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None/>
              <a:defRPr sz="1700">
                <a:latin typeface="Arial Black"/>
                <a:ea typeface="Arial Black"/>
                <a:cs typeface="Arial Black"/>
                <a:sym typeface="Arial Black"/>
              </a:defRPr>
            </a:lvl1pPr>
            <a:lvl2pPr indent="-347663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  <a:defRPr sz="1500"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, black text">
  <p:cSld name="Large image, black 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6"/>
          <p:cNvSpPr/>
          <p:nvPr>
            <p:ph idx="2" type="pic"/>
          </p:nvPr>
        </p:nvSpPr>
        <p:spPr>
          <a:xfrm>
            <a:off x="0" y="0"/>
            <a:ext cx="12192000" cy="61560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6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, white text">
  <p:cSld name="Large image, white 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7"/>
          <p:cNvSpPr/>
          <p:nvPr>
            <p:ph idx="2" type="pic"/>
          </p:nvPr>
        </p:nvSpPr>
        <p:spPr>
          <a:xfrm>
            <a:off x="0" y="0"/>
            <a:ext cx="12192000" cy="615600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27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7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7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7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">
  <p:cSld name="Large image and 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8"/>
          <p:cNvSpPr txBox="1"/>
          <p:nvPr>
            <p:ph idx="1" type="body"/>
          </p:nvPr>
        </p:nvSpPr>
        <p:spPr>
          <a:xfrm>
            <a:off x="8136000" y="1638000"/>
            <a:ext cx="3474000" cy="4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71475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8"/>
          <p:cNvSpPr/>
          <p:nvPr>
            <p:ph idx="2" type="pic"/>
          </p:nvPr>
        </p:nvSpPr>
        <p:spPr>
          <a:xfrm>
            <a:off x="576000" y="1721513"/>
            <a:ext cx="72144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8"/>
          <p:cNvSpPr txBox="1"/>
          <p:nvPr>
            <p:ph idx="3" type="body"/>
          </p:nvPr>
        </p:nvSpPr>
        <p:spPr>
          <a:xfrm>
            <a:off x="576000" y="5864981"/>
            <a:ext cx="7214400" cy="2741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indent="-228600" lvl="2" marL="1371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indent="-228600" lvl="3" marL="1828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indent="-228600" lvl="4" marL="22860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8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8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8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mulas">
  <p:cSld name="Formula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9"/>
          <p:cNvSpPr/>
          <p:nvPr>
            <p:ph idx="2" type="pic"/>
          </p:nvPr>
        </p:nvSpPr>
        <p:spPr>
          <a:xfrm>
            <a:off x="2070000" y="1724299"/>
            <a:ext cx="80748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9"/>
          <p:cNvSpPr txBox="1"/>
          <p:nvPr>
            <p:ph idx="1" type="body"/>
          </p:nvPr>
        </p:nvSpPr>
        <p:spPr>
          <a:xfrm>
            <a:off x="2048400" y="5863959"/>
            <a:ext cx="8096400" cy="278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indent="-228600" lvl="2" marL="1371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indent="-228600" lvl="3" marL="1828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indent="-228600" lvl="4" marL="22860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o">
  <p:cSld name="Video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/>
          <p:nvPr>
            <p:ph idx="2" type="media"/>
          </p:nvPr>
        </p:nvSpPr>
        <p:spPr>
          <a:xfrm>
            <a:off x="576000" y="1724302"/>
            <a:ext cx="11034000" cy="44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0"/>
          <p:cNvSpPr txBox="1"/>
          <p:nvPr>
            <p:ph idx="1" type="body"/>
          </p:nvPr>
        </p:nvSpPr>
        <p:spPr>
          <a:xfrm>
            <a:off x="576000" y="5864400"/>
            <a:ext cx="11034000" cy="27812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b="0" sz="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indent="-228600" lvl="2" marL="1371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indent="-228600" lvl="3" marL="18288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indent="-228600" lvl="4" marL="22860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0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0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smaller images and text">
  <p:cSld name="3 smaller images and 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" type="body"/>
          </p:nvPr>
        </p:nvSpPr>
        <p:spPr>
          <a:xfrm>
            <a:off x="4388099" y="1638000"/>
            <a:ext cx="7225200" cy="45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indent="-371475" lvl="1" marL="9144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indent="-325755" lvl="2" marL="1371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indent="-354330" lvl="3" marL="18288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indent="-302895" lvl="4" marL="22860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31"/>
          <p:cNvSpPr/>
          <p:nvPr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1"/>
          <p:cNvSpPr/>
          <p:nvPr>
            <p:ph idx="2" type="pic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31"/>
          <p:cNvSpPr/>
          <p:nvPr>
            <p:ph idx="3" type="pic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31"/>
          <p:cNvSpPr/>
          <p:nvPr>
            <p:ph idx="4" type="pic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31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1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">
  <p:cSld name="Le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2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2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2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All purpose" showMasterSp="0">
  <p:cSld name="JKU Logo All purpose"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TNF" showMasterSp="0">
  <p:cSld name="JKU Logo TNF">
    <p:bg>
      <p:bgPr>
        <a:solidFill>
          <a:schemeClr val="accent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TNF" showMasterSp="0">
  <p:cSld name="Title/End with logo TNF">
    <p:bg>
      <p:bgPr>
        <a:solidFill>
          <a:schemeClr val="accent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0" name="Google Shape;140;p35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5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5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44" name="Google Shape;14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TNF">
  <p:cSld name="Title without logo TNF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6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6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9" name="Google Shape;149;p36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0" name="Google Shape;15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6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6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6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SOWI" showMasterSp="0">
  <p:cSld name="JKU Logo SOWI">
    <p:bg>
      <p:bgPr>
        <a:solidFill>
          <a:schemeClr val="accent4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SOWI" showMasterSp="0">
  <p:cSld name="Title/End with logo SOWI">
    <p:bg>
      <p:bgPr>
        <a:solidFill>
          <a:schemeClr val="accent4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8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8" name="Google Shape;158;p38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8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8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61" name="Google Shape;161;p38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62" name="Google Shape;16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SOWI">
  <p:cSld name="Title without logo SOWI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9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7" name="Google Shape;167;p39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8" name="Google Shape;16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9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9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9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RE" showMasterSp="0">
  <p:cSld name="JKU Logo RE">
    <p:bg>
      <p:bgPr>
        <a:solidFill>
          <a:schemeClr val="accent5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RE" showMasterSp="0">
  <p:cSld name="Title/End with logo RE">
    <p:bg>
      <p:bgPr>
        <a:solidFill>
          <a:schemeClr val="accent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6" name="Google Shape;176;p41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41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1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41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80" name="Google Shape;18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RE">
  <p:cSld name="Title without logo R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2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2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5" name="Google Shape;185;p42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6" name="Google Shape;18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2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42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2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KU Logo MED" showMasterSp="0">
  <p:cSld name="JKU Logo MED">
    <p:bg>
      <p:bgPr>
        <a:solidFill>
          <a:schemeClr val="accent6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739600" y="1573200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End with logo MED" showMasterSp="0">
  <p:cSld name="Title/End with logo MED">
    <p:bg>
      <p:bgPr>
        <a:solidFill>
          <a:schemeClr val="accent6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4"/>
          <p:cNvSpPr txBox="1"/>
          <p:nvPr>
            <p:ph idx="1" type="subTitle"/>
          </p:nvPr>
        </p:nvSpPr>
        <p:spPr>
          <a:xfrm>
            <a:off x="486000" y="5410800"/>
            <a:ext cx="921600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4" name="Google Shape;194;p44"/>
          <p:cNvSpPr txBox="1"/>
          <p:nvPr>
            <p:ph type="title"/>
          </p:nvPr>
        </p:nvSpPr>
        <p:spPr>
          <a:xfrm>
            <a:off x="475200" y="1306800"/>
            <a:ext cx="92268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44"/>
          <p:cNvSpPr txBox="1"/>
          <p:nvPr/>
        </p:nvSpPr>
        <p:spPr>
          <a:xfrm>
            <a:off x="10065600" y="5500800"/>
            <a:ext cx="1396800" cy="733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UNIVERSITY LINZ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Austria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4"/>
          <p:cNvSpPr/>
          <p:nvPr>
            <p:ph idx="2" type="pic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44"/>
          <p:cNvSpPr/>
          <p:nvPr>
            <p:ph idx="3" type="pic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98" name="Google Shape;198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out logo MED">
  <p:cSld name="Title without logo MED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5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5"/>
          <p:cNvSpPr txBox="1"/>
          <p:nvPr>
            <p:ph idx="1" type="subTitle"/>
          </p:nvPr>
        </p:nvSpPr>
        <p:spPr>
          <a:xfrm>
            <a:off x="486000" y="5410800"/>
            <a:ext cx="11115450" cy="7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3" name="Google Shape;203;p45"/>
          <p:cNvSpPr txBox="1"/>
          <p:nvPr>
            <p:ph type="title"/>
          </p:nvPr>
        </p:nvSpPr>
        <p:spPr>
          <a:xfrm>
            <a:off x="475200" y="1306800"/>
            <a:ext cx="11128476" cy="200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4" name="Google Shape;20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5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5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45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" type="title">
  <p:cSld name="TITLE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4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1" name="Google Shape;211;p46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46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6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86000" y="575999"/>
            <a:ext cx="11124000" cy="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b="0" i="0" sz="3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71600" y="1620000"/>
            <a:ext cx="11142000" cy="45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7350" lvl="1" marL="9144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5755" lvl="2" marL="13716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4330" lvl="3" marL="18288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2895" lvl="4" marL="228600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9424800" y="6357600"/>
            <a:ext cx="81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5889600" y="6350400"/>
            <a:ext cx="2426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11019600" y="6357600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572400" y="6350561"/>
            <a:ext cx="2717810" cy="3204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4178">
          <p15:clr>
            <a:srgbClr val="F26B43"/>
          </p15:clr>
        </p15:guide>
        <p15:guide id="2" pos="5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[Name]  —  [Member names]</a:t>
            </a:r>
          </a:p>
          <a:p>
            <a:r>
              <a:t>AI and Visualization Lab WS26  —  Task and model proposal  — 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Explaining Patient-Similarity Models on MIMIC-IV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6479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07568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Patient matching in a healthcare startup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6946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Task and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880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Diabetes complication cohorts in MIMIC-IV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7413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850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Count-based KNN vs. CLMBR-T-base embeddings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7880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Phase I and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970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How the models behave, and what they learned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001768"/>
            <a:ext cx="457200" cy="45720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834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29437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Hypotheses, AI4VIS, risks and timeline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Motivation: patient matching in practice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Idea taken from my work at a healthcare startup (Droice Labs)</a:t>
            </a:r>
          </a:p>
        </p:txBody>
      </p:sp>
      <p:pic>
        <p:nvPicPr>
          <p:cNvPr id="4" name="Droice Hawk screenshot" descr="179301395706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783080"/>
            <a:ext cx="6309360" cy="39829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632" y="5839159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5F6166"/>
                </a:solidFill>
                <a:latin typeface="Arial"/>
              </a:rPr>
              <a:t>Droice Hawk: patient cohorts of chronic kidney disease patients, clustered by similarity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83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88038"/>
                </a:solidFill>
                <a:latin typeface="Arial"/>
              </a:rPr>
              <a:t>How it is used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28600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Patients are embedded and clustered into cohorts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K-nearest neighbors finds comparable patients for clinical-trial recruitment</a:t>
            </a:r>
          </a:p>
        </p:txBody>
      </p:sp>
      <p:sp>
        <p:nvSpPr>
          <p:cNvPr id="8" name="Question card"/>
          <p:cNvSpPr/>
          <p:nvPr/>
        </p:nvSpPr>
        <p:spPr>
          <a:xfrm>
            <a:off x="7589520" y="3977639"/>
            <a:ext cx="4114800" cy="160020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18120" y="411480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88038"/>
                </a:solidFill>
                <a:latin typeface="Arial"/>
              </a:rPr>
              <a:t>Our question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222222"/>
                </a:solidFill>
                <a:latin typeface="Arial"/>
              </a:rPr>
              <a:t>Can we trust which patients the model calls “similar”, and why does it pick them?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Task: patient-similarity retrieval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Given a diabetes patient, return the 10 most similar patients</a:t>
            </a:r>
          </a:p>
        </p:txBody>
      </p:sp>
      <p:sp>
        <p:nvSpPr>
          <p:cNvPr id="4" name="Step 1"/>
          <p:cNvSpPr/>
          <p:nvPr/>
        </p:nvSpPr>
        <p:spPr>
          <a:xfrm>
            <a:off x="548640" y="205740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22128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Patient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Diagnoses, labs, medications, admissions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80944" y="2697480"/>
            <a:ext cx="411480" cy="32004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ep 2"/>
          <p:cNvSpPr/>
          <p:nvPr/>
        </p:nvSpPr>
        <p:spPr>
          <a:xfrm>
            <a:off x="3429000" y="205740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11880" y="22128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88038"/>
                </a:solidFill>
                <a:latin typeface="Arial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517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Embed the patient, run k-nearest-neighbor search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61304" y="2697480"/>
            <a:ext cx="411480" cy="32004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ep 3"/>
          <p:cNvSpPr/>
          <p:nvPr/>
        </p:nvSpPr>
        <p:spPr>
          <a:xfrm>
            <a:off x="6309360" y="205740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2128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10 neighbors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The most similar patients in the cohort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41664" y="2697480"/>
            <a:ext cx="411480" cy="32004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ep 4"/>
          <p:cNvSpPr/>
          <p:nvPr/>
        </p:nvSpPr>
        <p:spPr>
          <a:xfrm>
            <a:off x="9189720" y="2057400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72600" y="221284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651760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Do they share the later complication pathway?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Complication pathways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88038"/>
                </a:solidFill>
                <a:latin typeface="Arial"/>
              </a:rPr>
              <a:t>Kidney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45262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560320" y="45262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88038"/>
                </a:solidFill>
                <a:latin typeface="Arial"/>
              </a:rPr>
              <a:t>Cardiovascular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5262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72000" y="45262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88038"/>
                </a:solidFill>
                <a:latin typeface="Arial"/>
              </a:rPr>
              <a:t>Eye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526280"/>
            <a:ext cx="18288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880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0" y="45262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188038"/>
                </a:solidFill>
                <a:latin typeface="Arial"/>
              </a:rPr>
              <a:t>None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069080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A clear ground truth makes failures measurable, and it mirrors real trial recruitment.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Data: MIMIC-IV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De-identified hospital records, Beth Israel Deaconess Medical Center,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8038"/>
                </a:solidFill>
                <a:latin typeface="Arial"/>
              </a:rPr>
              <a:t>~65,000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patients in MIMIC-IV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8038"/>
                </a:solidFill>
                <a:latin typeface="Arial"/>
              </a:rPr>
              <a:t>2008–2019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5603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years 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82880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8038"/>
                </a:solidFill>
                <a:latin typeface="Arial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56032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patients in the free OMOP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Arial"/>
              </a:rPr>
              <a:t>Cohort and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6035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Adults with a diabetes diagnosis (ICD-9 250.x, ICD-10 E10–E14) and 2+ admissions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Diagnoses, labs (HbA1c, eGFR, glucose, lipids), prescriptions, admissions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Limitation: hospital-only data, so eye disease is underrepresented</a:t>
            </a:r>
          </a:p>
        </p:txBody>
      </p:sp>
      <p:sp>
        <p:nvSpPr>
          <p:cNvPr id="12" name="Access card"/>
          <p:cNvSpPr/>
          <p:nvPr/>
        </p:nvSpPr>
        <p:spPr>
          <a:xfrm>
            <a:off x="7223760" y="1828800"/>
            <a:ext cx="4434840" cy="402336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52360" y="19659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88038"/>
                </a:solidFill>
                <a:latin typeface="Arial"/>
              </a:rPr>
              <a:t>Access plan</a:t>
            </a:r>
          </a:p>
        </p:txBody>
      </p:sp>
      <p:sp>
        <p:nvSpPr>
          <p:cNvPr id="14" name="Oval 13"/>
          <p:cNvSpPr/>
          <p:nvPr/>
        </p:nvSpPr>
        <p:spPr>
          <a:xfrm>
            <a:off x="7452360" y="2514600"/>
            <a:ext cx="384048" cy="384048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532888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CITI course: “Data or Specimens Only Research”</a:t>
            </a:r>
          </a:p>
        </p:txBody>
      </p:sp>
      <p:sp>
        <p:nvSpPr>
          <p:cNvPr id="16" name="Oval 15"/>
          <p:cNvSpPr/>
          <p:nvPr/>
        </p:nvSpPr>
        <p:spPr>
          <a:xfrm>
            <a:off x="7452360" y="3291840"/>
            <a:ext cx="384048" cy="384048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310128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PhysioNet credentialing, every member</a:t>
            </a:r>
          </a:p>
        </p:txBody>
      </p:sp>
      <p:sp>
        <p:nvSpPr>
          <p:cNvPr id="18" name="Oval 17"/>
          <p:cNvSpPr/>
          <p:nvPr/>
        </p:nvSpPr>
        <p:spPr>
          <a:xfrm>
            <a:off x="7452360" y="4069080"/>
            <a:ext cx="384048" cy="384048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4087368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Sign the MIMIC-IV data use agreement</a:t>
            </a:r>
          </a:p>
        </p:txBody>
      </p:sp>
      <p:sp>
        <p:nvSpPr>
          <p:cNvPr id="20" name="Oval 19"/>
          <p:cNvSpPr/>
          <p:nvPr/>
        </p:nvSpPr>
        <p:spPr>
          <a:xfrm>
            <a:off x="7452360" y="4846320"/>
            <a:ext cx="384048" cy="384048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864607"/>
            <a:ext cx="34747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Meanwhile: build the pipeline on the OMOP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Models: a transparent baseline vs. a foundation model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Both feed the same k-nearest-neighbor step, so differences come from the representation</a:t>
            </a:r>
          </a:p>
        </p:txBody>
      </p:sp>
      <p:sp>
        <p:nvSpPr>
          <p:cNvPr id="4" name="Model A"/>
          <p:cNvSpPr/>
          <p:nvPr/>
        </p:nvSpPr>
        <p:spPr>
          <a:xfrm>
            <a:off x="548640" y="18288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808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3055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Count-based KNN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926080"/>
            <a:ext cx="4892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Vector of code counts: diagnoses, labs, drugs, plus age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Every distance can be traced to features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Strong, simple baseline from the EHRSHOT benchmark</a:t>
            </a:r>
          </a:p>
        </p:txBody>
      </p:sp>
      <p:sp>
        <p:nvSpPr>
          <p:cNvPr id="8" name="Model B"/>
          <p:cNvSpPr/>
          <p:nvPr/>
        </p:nvSpPr>
        <p:spPr>
          <a:xfrm>
            <a:off x="6217920" y="1828800"/>
            <a:ext cx="5440680" cy="301752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130552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88038"/>
                </a:solidFill>
                <a:latin typeface="Arial"/>
              </a:rPr>
              <a:t>CLMBR-T-base + KNN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926080"/>
            <a:ext cx="4892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768-dimensional patient embedding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141M-parameter transformer pretrained on 2.57M Stanford patient records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Learned internals to open in Phase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Same for both: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k = 10 neighbors, the same diabetes cohort, the same evaluation against later complications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CLMBR-T-base is the best fit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Three candidates with papers that work with MIMIC-IV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109960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3017520"/>
                <a:gridCol w="4434840"/>
                <a:gridCol w="1280160"/>
              </a:tblGrid>
              <a:tr h="5943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109728" marR="109728" anchor="ctr"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109728" marR="109728" anchor="ctr"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Trade-off</a:t>
                      </a:r>
                    </a:p>
                  </a:txBody>
                  <a:tcPr marL="109728" marR="109728" anchor="ctr">
                    <a:solidFill>
                      <a:srgbClr val="1880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109728" marR="109728" anchor="ctr">
                    <a:solidFill>
                      <a:srgbClr val="18803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CLMBR-T-base</a:t>
                      </a:r>
                    </a:p>
                  </a:txBody>
                  <a:tcPr marL="109728" marR="109728" anchor="ctr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Structured EHR codes (OMOP)</a:t>
                      </a:r>
                    </a:p>
                  </a:txBody>
                  <a:tcPr marL="109728" marR="109728" anchor="ctr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Needs OMOP conversion + Stanford non-commercial agreement</a:t>
                      </a:r>
                    </a:p>
                  </a:txBody>
                  <a:tcPr marL="109728" marR="109728" anchor="ctr">
                    <a:solidFill>
                      <a:srgbClr val="E6F2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88038"/>
                          </a:solidFill>
                          <a:latin typeface="Arial"/>
                        </a:rPr>
                        <a:t>Chosen</a:t>
                      </a:r>
                    </a:p>
                  </a:txBody>
                  <a:tcPr marL="109728" marR="109728" anchor="ctr">
                    <a:solidFill>
                      <a:srgbClr val="E6F2E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EHRMamba</a:t>
                      </a:r>
                    </a:p>
                  </a:txBody>
                  <a:tcPr marL="109728" marR="109728" anchor="ctr"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Structured EHR (MIMIC-IV FHIR)</a:t>
                      </a:r>
                    </a:p>
                  </a:txBody>
                  <a:tcPr marL="109728" marR="109728" anchor="ctr"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Trained on MIMIC-IV, but needs our own GPU training</a:t>
                      </a:r>
                    </a:p>
                  </a:txBody>
                  <a:tcPr marL="109728" marR="109728" anchor="ctr">
                    <a:solidFill>
                      <a:srgbClr val="F1F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Considered</a:t>
                      </a:r>
                    </a:p>
                  </a:txBody>
                  <a:tcPr marL="109728" marR="109728" anchor="ctr">
                    <a:solidFill>
                      <a:srgbClr val="F1F2F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22222"/>
                          </a:solidFill>
                          <a:latin typeface="Arial"/>
                        </a:rPr>
                        <a:t>Bio_ClinicalBERT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Clinical notes (text)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Easiest setup (MIT license), but text only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Arial"/>
                        </a:rPr>
                        <a:t>Fallback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Bonus: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CLMBR-T-base was pretrained at Stanford, not Boston. How well it transfers to MIMIC-IV is itself a finding to test.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I: how do the models behave?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Black box closed: inputs and neighbors only. Projections use input features, never embeddings</a:t>
            </a:r>
          </a:p>
        </p:txBody>
      </p:sp>
      <p:sp>
        <p:nvSpPr>
          <p:cNvPr id="4" name="Tool 1"/>
          <p:cNvSpPr/>
          <p:nvPr/>
        </p:nvSpPr>
        <p:spPr>
          <a:xfrm>
            <a:off x="548640" y="1828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Scatter plot, one variable per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50592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x = neighbor agreement, y = HbA1c or eGFR, color = sex, small multiples = pathway</a:t>
            </a:r>
          </a:p>
        </p:txBody>
      </p:sp>
      <p:sp>
        <p:nvSpPr>
          <p:cNvPr id="8" name="Tool 2"/>
          <p:cNvSpPr/>
          <p:nvPr/>
        </p:nvSpPr>
        <p:spPr>
          <a:xfrm>
            <a:off x="6217920" y="18288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46520" y="2057400"/>
            <a:ext cx="411480" cy="41148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0574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Reordered confusion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450592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Majority vote of neighbors vs. actual pathway; blocks show clinically sensible errors</a:t>
            </a:r>
          </a:p>
        </p:txBody>
      </p:sp>
      <p:sp>
        <p:nvSpPr>
          <p:cNvPr id="12" name="Tool 3"/>
          <p:cNvSpPr/>
          <p:nvPr/>
        </p:nvSpPr>
        <p:spPr>
          <a:xfrm>
            <a:off x="548640" y="3429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576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Projection with drill-down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50791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UMAP of input features colored by agreement; drill down, summarize, annotate failures</a:t>
            </a:r>
          </a:p>
        </p:txBody>
      </p:sp>
      <p:sp>
        <p:nvSpPr>
          <p:cNvPr id="16" name="Tool 4"/>
          <p:cNvSpPr/>
          <p:nvPr/>
        </p:nvSpPr>
        <p:spPr>
          <a:xfrm>
            <a:off x="6217920" y="3429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46520" y="3657600"/>
            <a:ext cx="411480" cy="41148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65760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Paths over admissions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050791"/>
            <a:ext cx="4434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Connect each patient's admissions into a path; watch neighbors change over time</a:t>
            </a:r>
          </a:p>
        </p:txBody>
      </p:sp>
      <p:sp>
        <p:nvSpPr>
          <p:cNvPr id="20" name="Synthetic inputs"/>
          <p:cNvSpPr/>
          <p:nvPr/>
        </p:nvSpPr>
        <p:spPr>
          <a:xfrm>
            <a:off x="548640" y="5120640"/>
            <a:ext cx="11109960" cy="73152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5120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Synthetic inputs: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perturbations (HbA1c 7% → 9%) and counterfactuals (same record, other sex or age), shown as a “neighbor flip” 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II: what did the models learn?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Black box open: every view tests one Phase I 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F6166"/>
                </a:solidFill>
                <a:latin typeface="Arial"/>
              </a:rPr>
              <a:t>Phase I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783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F6166"/>
                </a:solidFill>
                <a:latin typeface="Arial"/>
              </a:rPr>
              <a:t>Phase II explanation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Neighbors differ by demographic group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526280" y="2423160"/>
            <a:ext cx="457200" cy="32004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120640" y="2194560"/>
            <a:ext cx="6537960" cy="77724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03520" y="2267712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Probing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22222"/>
                </a:solidFill>
                <a:latin typeface="Arial"/>
              </a:rPr>
              <a:t>Linear classifiers on embeddings test what is encoded: age, sex, insurance, kidney 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27248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3127248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Some regions of patient space fail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26280" y="3355848"/>
            <a:ext cx="457200" cy="32004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120640" y="3127248"/>
            <a:ext cx="6537960" cy="77724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03520" y="3200400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Embedding projection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22222"/>
                </a:solidFill>
                <a:latin typeface="Arial"/>
              </a:rPr>
              <a:t>UMAP of model B's space, colored by pathway, then by hospital unit and admission year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59935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4059935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One lab change flips many neighbors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526280" y="4288536"/>
            <a:ext cx="457200" cy="32004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120640" y="4059935"/>
            <a:ext cx="6537960" cy="77724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03520" y="4133087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Distance decomposition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22222"/>
                </a:solidFill>
                <a:latin typeface="Arial"/>
              </a:rPr>
              <a:t>Which features drive each neighbor distance in model 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92624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992624"/>
            <a:ext cx="35204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Neighbors change as disease progresses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26280" y="5221224"/>
            <a:ext cx="457200" cy="320040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120640" y="4992624"/>
            <a:ext cx="6537960" cy="77724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303520" y="5065776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Embedding trajectories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222222"/>
                </a:solidFill>
                <a:latin typeface="Arial"/>
              </a:rPr>
              <a:t>Admissions as paths through embedding space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Hypotheses we will test; a negative result is still a finding</a:t>
            </a:r>
          </a:p>
        </p:txBody>
      </p:sp>
      <p:sp>
        <p:nvSpPr>
          <p:cNvPr id="4" name="Hypothesis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8038"/>
                </a:solidFill>
                <a:latin typeface="Arial"/>
              </a:rPr>
              <a:t>H1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Better neighbors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Model B finds more clinically consistent neighbors than A for kidney and cardiovascular pathways</a:t>
            </a:r>
          </a:p>
        </p:txBody>
      </p:sp>
      <p:sp>
        <p:nvSpPr>
          <p:cNvPr id="8" name="Hypothesis 2"/>
          <p:cNvSpPr/>
          <p:nvPr/>
        </p:nvSpPr>
        <p:spPr>
          <a:xfrm>
            <a:off x="3364992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93592" y="20116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8038"/>
                </a:solidFill>
                <a:latin typeface="Arial"/>
              </a:rPr>
              <a:t>H2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Rare pathway fails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2004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Both models do worse for eye complications, which are rare in hospital data</a:t>
            </a:r>
          </a:p>
        </p:txBody>
      </p:sp>
      <p:sp>
        <p:nvSpPr>
          <p:cNvPr id="12" name="Hypothesis 3"/>
          <p:cNvSpPr/>
          <p:nvPr/>
        </p:nvSpPr>
        <p:spPr>
          <a:xfrm>
            <a:off x="6181344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9944" y="20116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8038"/>
                </a:solidFill>
                <a:latin typeface="Arial"/>
              </a:rPr>
              <a:t>H3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Hidden shortcuts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2004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Some neighbors are chosen by demographics or admission year, which would bias trial cohorts</a:t>
            </a:r>
          </a:p>
        </p:txBody>
      </p:sp>
      <p:sp>
        <p:nvSpPr>
          <p:cNvPr id="16" name="Hypothesis 4"/>
          <p:cNvSpPr/>
          <p:nvPr/>
        </p:nvSpPr>
        <p:spPr>
          <a:xfrm>
            <a:off x="8997696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26296" y="2011680"/>
            <a:ext cx="914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88038"/>
                </a:solidFill>
                <a:latin typeface="Arial"/>
              </a:rPr>
              <a:t>H4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6" y="27432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Imperfect transfer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3200400"/>
            <a:ext cx="21945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Model B's embedding encodes Stanford-specific patterns that transfer imperfectly to MIMIC-IV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2"/>
                </a:solidFill>
                <a:latin typeface="Arial"/>
              </a:rPr>
              <a:t>Deliverable: an interactive visual analysis comparing both models, with evidence for each finding.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AI4VIS and data safety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Using generative AI responsibly with credentialed patient data</a:t>
            </a:r>
          </a:p>
        </p:txBody>
      </p:sp>
      <p:sp>
        <p:nvSpPr>
          <p:cNvPr id="4" name="AI4VIS card"/>
          <p:cNvSpPr/>
          <p:nvPr/>
        </p:nvSpPr>
        <p:spPr>
          <a:xfrm>
            <a:off x="548640" y="182880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88038"/>
                </a:solidFill>
                <a:latin typeface="Arial"/>
              </a:rPr>
              <a:t>AI4VIS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50292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Per phase: two members design with AI help, two without, then swap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Log key prompts and which suggestions we accepted, rejected or refined, and why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Report failure patterns and emerging best practices</a:t>
            </a:r>
          </a:p>
        </p:txBody>
      </p:sp>
      <p:sp>
        <p:nvSpPr>
          <p:cNvPr id="7" name="Safety card"/>
          <p:cNvSpPr/>
          <p:nvPr/>
        </p:nvSpPr>
        <p:spPr>
          <a:xfrm>
            <a:off x="6217920" y="1828800"/>
            <a:ext cx="5440680" cy="310896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B33A2E"/>
                </a:solidFill>
                <a:latin typeface="Arial"/>
              </a:rPr>
              <a:t>Data-safety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06040"/>
            <a:ext cx="50292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Never paste real patient rows into AI tools; use synthetic or aggregated examples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Public GitHub repo holds code only: no data, cohorts, embeddings or neighbor lists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sz="1500" b="0">
                <a:solidFill>
                  <a:srgbClr val="222222"/>
                </a:solidFill>
                <a:latin typeface="Arial"/>
              </a:rPr>
              <a:t>Required files: team-info.json and workload.json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Why it matters: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the MIMIC-IV data use agreement forbids sharing data with third-party online services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F6166"/>
                </a:solidFill>
                <a:latin typeface="Arial"/>
              </a:rPr>
              <a:t>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0" y="16916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F6166"/>
                </a:solidFill>
                <a:latin typeface="Arial"/>
              </a:rPr>
              <a:t>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MIMIC-IV approval is slow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86400" y="2267712"/>
            <a:ext cx="411480" cy="310896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6035040" y="2103120"/>
            <a:ext cx="5623560" cy="64008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Apply this week; prototype on the free OMOP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Stanford agreement for CLMBR-T-base delayed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3044952"/>
            <a:ext cx="411480" cy="310896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035040" y="2880360"/>
            <a:ext cx="5623560" cy="64008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7920" y="288036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Switch model B to Bio_ClinicalBERT on discharge notes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5760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OMOP conversion takes too long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486400" y="3822191"/>
            <a:ext cx="411480" cy="310896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035040" y="3657600"/>
            <a:ext cx="5623560" cy="64008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17920" y="365760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Use the OHDSI ETL as is; limit to diagnoses, labs, drugs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Too few repeat-admission patients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86400" y="4599431"/>
            <a:ext cx="411480" cy="310896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035040" y="4434840"/>
            <a:ext cx="5623560" cy="64008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7920" y="4434840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Widen cohort to any admission with a diabetes code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212079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212079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Not enough compute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486400" y="5376671"/>
            <a:ext cx="411480" cy="310896"/>
          </a:xfrm>
          <a:prstGeom prst="rightArrow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035040" y="5212079"/>
            <a:ext cx="5623560" cy="640080"/>
          </a:xfrm>
          <a:prstGeom prst="roundRect">
            <a:avLst>
              <a:gd name="adj" fmla="val 8000"/>
            </a:avLst>
          </a:prstGeom>
          <a:solidFill>
            <a:srgbClr val="E6F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7920" y="5212079"/>
            <a:ext cx="53492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Arial"/>
              </a:rPr>
              <a:t>Inference only for CLMBR-T-base; no pretraining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84632" y="1261872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No deadline extensions: every milestone has an owner</a:t>
            </a:r>
          </a:p>
        </p:txBody>
      </p:sp>
      <p:sp>
        <p:nvSpPr>
          <p:cNvPr id="4" name="Timeline line"/>
          <p:cNvSpPr/>
          <p:nvPr/>
        </p:nvSpPr>
        <p:spPr>
          <a:xfrm>
            <a:off x="822960" y="2852928"/>
            <a:ext cx="10607040" cy="54864"/>
          </a:xfrm>
          <a:prstGeom prst="rect">
            <a:avLst/>
          </a:prstGeom>
          <a:solidFill>
            <a:srgbClr val="808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88038"/>
                </a:solidFill>
                <a:latin typeface="Arial"/>
              </a:rPr>
              <a:t>28.10</a:t>
            </a:r>
          </a:p>
        </p:txBody>
      </p:sp>
      <p:sp>
        <p:nvSpPr>
          <p:cNvPr id="6" name="Oval 5"/>
          <p:cNvSpPr/>
          <p:nvPr/>
        </p:nvSpPr>
        <p:spPr>
          <a:xfrm>
            <a:off x="621792" y="2697480"/>
            <a:ext cx="365760" cy="36576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Model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Moodle entry, GitHub repo, all credentialing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352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88038"/>
                </a:solidFill>
                <a:latin typeface="Arial"/>
              </a:rPr>
              <a:t>04.11</a:t>
            </a:r>
          </a:p>
        </p:txBody>
      </p:sp>
      <p:sp>
        <p:nvSpPr>
          <p:cNvPr id="10" name="Oval 9"/>
          <p:cNvSpPr/>
          <p:nvPr/>
        </p:nvSpPr>
        <p:spPr>
          <a:xfrm>
            <a:off x="2889504" y="2697480"/>
            <a:ext cx="365760" cy="36576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816352" y="3337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Pipeline running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6352" y="3749039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OMOP demo; both models return neighbors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33A2E"/>
                </a:solidFill>
                <a:latin typeface="Arial"/>
              </a:rPr>
              <a:t>11.11</a:t>
            </a:r>
          </a:p>
        </p:txBody>
      </p:sp>
      <p:sp>
        <p:nvSpPr>
          <p:cNvPr id="14" name="Oval 13"/>
          <p:cNvSpPr/>
          <p:nvPr/>
        </p:nvSpPr>
        <p:spPr>
          <a:xfrm>
            <a:off x="5157216" y="2697480"/>
            <a:ext cx="365760" cy="365760"/>
          </a:xfrm>
          <a:prstGeom prst="ellipse">
            <a:avLst/>
          </a:prstGeom>
          <a:solidFill>
            <a:srgbClr val="B3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84064" y="3337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Midpoint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3749039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Phase I visualizations on full MIMIC-IV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5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88038"/>
                </a:solidFill>
                <a:latin typeface="Arial"/>
              </a:rPr>
              <a:t>02.12</a:t>
            </a:r>
          </a:p>
        </p:txBody>
      </p:sp>
      <p:sp>
        <p:nvSpPr>
          <p:cNvPr id="18" name="Oval 17"/>
          <p:cNvSpPr/>
          <p:nvPr/>
        </p:nvSpPr>
        <p:spPr>
          <a:xfrm>
            <a:off x="7424927" y="2697480"/>
            <a:ext cx="365760" cy="365760"/>
          </a:xfrm>
          <a:prstGeom prst="ellipse">
            <a:avLst/>
          </a:prstGeom>
          <a:solidFill>
            <a:srgbClr val="188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51775" y="3337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Phase II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3749039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Projections, probing, trajectories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05740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B33A2E"/>
                </a:solidFill>
                <a:latin typeface="Arial"/>
              </a:rPr>
              <a:t>09.12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0" y="2697480"/>
            <a:ext cx="365760" cy="365760"/>
          </a:xfrm>
          <a:prstGeom prst="ellipse">
            <a:avLst/>
          </a:prstGeom>
          <a:solidFill>
            <a:srgbClr val="B3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19488" y="333756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Final deadline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3749039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F6166"/>
                </a:solidFill>
                <a:latin typeface="Arial"/>
              </a:rPr>
              <a:t>Report, AI4VIS log, presentation</a:t>
            </a:r>
          </a:p>
        </p:txBody>
      </p:sp>
      <p:sp>
        <p:nvSpPr>
          <p:cNvPr id="25" name="Roles"/>
          <p:cNvSpPr/>
          <p:nvPr/>
        </p:nvSpPr>
        <p:spPr>
          <a:xfrm>
            <a:off x="548640" y="5074920"/>
            <a:ext cx="11109960" cy="731520"/>
          </a:xfrm>
          <a:prstGeom prst="roundRect">
            <a:avLst>
              <a:gd name="adj" fmla="val 8000"/>
            </a:avLst>
          </a:prstGeom>
          <a:solidFill>
            <a:srgbClr val="F1F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88038"/>
                </a:solidFill>
                <a:latin typeface="Arial"/>
              </a:rPr>
              <a:t>Roles: </a:t>
            </a:r>
            <a:r>
              <a:rPr sz="1500" b="0" i="0">
                <a:solidFill>
                  <a:srgbClr val="222222"/>
                </a:solidFill>
                <a:latin typeface="Arial"/>
              </a:rPr>
              <a:t>data lead · model lead · Phase I lead · Phase II lead (to assign)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papers and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88038"/>
                </a:solidFill>
                <a:latin typeface="Arial"/>
              </a:rPr>
              <a:t>Wornow et al., NeurIPS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1226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EHRSHOT: an EHR benchmark for few-shot evaluation of foundation models (CLMBR-T-base)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88038"/>
                </a:solidFill>
                <a:latin typeface="Arial"/>
              </a:rPr>
              <a:t>Fallahpour et al., ML4H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3522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EHRMamba: generalizable and scalable foundation models for EHRs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88038"/>
                </a:solidFill>
                <a:latin typeface="Arial"/>
              </a:rPr>
              <a:t>Alsentzer et al., NAACL ClinicalNLP 2019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5818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Publicly available clinical BERT embeddings (Bio_ClinicalBERT)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88038"/>
                </a:solidFill>
                <a:latin typeface="Arial"/>
              </a:rPr>
              <a:t>Yu et al.,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8114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Benchmarking foundation models with multimodal public EHRs (MIMIC-IV)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88038"/>
                </a:solidFill>
                <a:latin typeface="Arial"/>
              </a:rPr>
              <a:t>Hinterreiter et al.,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04104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Arial"/>
              </a:rPr>
              <a:t>Projection Path Explorer: visual patterns in projected decision-making paths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>
            <a:r>
              <a:t>Group [Name]  —  [Member names]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ku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